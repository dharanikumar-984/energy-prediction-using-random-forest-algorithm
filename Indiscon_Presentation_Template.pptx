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64" r:id="rId6"/>
    <p:sldId id="265" r:id="rId7"/>
    <p:sldId id="258" r:id="rId8"/>
    <p:sldId id="26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C6J/RwuOd9mMVOHr0i7Uh28+A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AD31F6F-E358-63B1-AD2A-B806A797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F2CC1CD-009F-472D-4401-DA8A20AC3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7B3B237-AA1B-8535-24B2-60BB1F6CF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7473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CE9454C-DEE1-9EF1-964E-1CF56EB2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3F3253A-C611-016A-B47B-D83D33339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7E93D52-4CEB-9380-A63B-AFF00F9AF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827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043A4A2-6457-79FC-3CD2-9561F3F7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FAA79E6-E5E6-9EF0-C025-C488B5A27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06AEEE6-F41E-0BD3-C851-8824A5177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8997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943B4E0-64C3-E856-8517-0AB24385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E19BF8C-3428-4178-4F66-A4936408D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4BFA0B9-E238-0DC3-3AA8-B4A349F37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73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1d6653723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71d665372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1d6653723_2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71d6653723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816285" y="2398644"/>
            <a:ext cx="8332550" cy="13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000"/>
            </a:pPr>
            <a:br>
              <a:rPr lang="en-US" sz="1800" dirty="0">
                <a:latin typeface="Aharoni"/>
                <a:ea typeface="Aharoni"/>
                <a:cs typeface="Aharoni"/>
                <a:sym typeface="Aharoni"/>
              </a:rPr>
            </a:br>
            <a:r>
              <a:rPr lang="en-US" sz="2400" dirty="0">
                <a:solidFill>
                  <a:srgbClr val="C55A11"/>
                </a:solidFill>
                <a:latin typeface="Aharoni"/>
                <a:ea typeface="Aharoni"/>
                <a:cs typeface="Aharoni"/>
                <a:sym typeface="Aharoni"/>
              </a:rPr>
              <a:t>Title of Paper: </a:t>
            </a:r>
            <a:r>
              <a:rPr lang="en-US" sz="2400" dirty="0">
                <a:latin typeface="+mj-lt"/>
              </a:rPr>
              <a:t>Development of an Energy Prediction Model for Home Appliances Using Random Forest Algorithm</a:t>
            </a:r>
            <a:br>
              <a:rPr lang="en-US" sz="4400" dirty="0">
                <a:latin typeface="Aharoni"/>
                <a:ea typeface="Aharoni"/>
                <a:cs typeface="Aharoni"/>
                <a:sym typeface="Aharoni"/>
              </a:rPr>
            </a:br>
            <a:r>
              <a:rPr lang="en-US" sz="2400" b="1" dirty="0">
                <a:solidFill>
                  <a:srgbClr val="2F5496"/>
                </a:solidFill>
                <a:latin typeface="Aharoni"/>
                <a:ea typeface="Aharoni"/>
                <a:cs typeface="Aharoni"/>
                <a:sym typeface="Aharoni"/>
              </a:rPr>
              <a:t>Paper ID : </a:t>
            </a:r>
            <a:r>
              <a:rPr lang="en-US" sz="3200" dirty="0">
                <a:solidFill>
                  <a:schemeClr val="tx1"/>
                </a:solidFill>
                <a:latin typeface="Aharoni"/>
                <a:ea typeface="Aharoni"/>
                <a:cs typeface="Aharoni"/>
                <a:sym typeface="Aharoni"/>
              </a:rPr>
              <a:t>2671</a:t>
            </a:r>
            <a:endParaRPr sz="2400" dirty="0">
              <a:solidFill>
                <a:schemeClr val="tx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n-US" sz="2400" dirty="0">
                <a:solidFill>
                  <a:srgbClr val="2F5496"/>
                </a:solidFill>
                <a:latin typeface="Aharoni"/>
                <a:ea typeface="Aharoni"/>
                <a:cs typeface="Aharoni"/>
                <a:sym typeface="Aharoni"/>
              </a:rPr>
              <a:t>Presenting Author: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Aharoni"/>
              </a:rPr>
              <a:t>Pasupuleti Charan Kumar</a:t>
            </a:r>
            <a:endParaRPr sz="24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  <a:sym typeface="Aharon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98" y="0"/>
            <a:ext cx="12162463" cy="18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68" y="6076122"/>
            <a:ext cx="12162463" cy="77730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816285" y="4233014"/>
            <a:ext cx="833255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0" i="0" u="none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Author and Co-Authors: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Pasupuleti Dharani Kumar, Singanamala Sharmas vali, Veera Naga Keerthi, Santhiya, M. Krishna Paramathma</a:t>
            </a:r>
          </a:p>
          <a:p>
            <a:pPr lvl="0" algn="ctr"/>
            <a:endParaRPr sz="2000" b="0" i="0" u="none" strike="noStrike" cap="none" dirty="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lvl="0" algn="ctr"/>
            <a:r>
              <a:rPr lang="en-US" sz="2000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Affiliation: </a:t>
            </a:r>
            <a:r>
              <a:rPr lang="en-US" sz="2000" dirty="0">
                <a:latin typeface="+mn-lt"/>
              </a:rPr>
              <a:t>Kalasalingam Academy of Research and Education</a:t>
            </a:r>
            <a:endParaRPr sz="2000" b="0" i="0" u="none" strike="noStrike" cap="none" dirty="0">
              <a:solidFill>
                <a:schemeClr val="dk1"/>
              </a:solidFill>
              <a:latin typeface="+mn-lt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Date:18/08/2025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6535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Table of Contents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2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2232DF-D941-D262-936D-BE00459F1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151836"/>
              </p:ext>
            </p:extLst>
          </p:nvPr>
        </p:nvGraphicFramePr>
        <p:xfrm>
          <a:off x="2857081" y="2131060"/>
          <a:ext cx="5296319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0116">
                  <a:extLst>
                    <a:ext uri="{9D8B030D-6E8A-4147-A177-3AD203B41FA5}">
                      <a16:colId xmlns:a16="http://schemas.microsoft.com/office/drawing/2014/main" val="2508040660"/>
                    </a:ext>
                  </a:extLst>
                </a:gridCol>
                <a:gridCol w="2506203">
                  <a:extLst>
                    <a:ext uri="{9D8B030D-6E8A-4147-A177-3AD203B41FA5}">
                      <a16:colId xmlns:a16="http://schemas.microsoft.com/office/drawing/2014/main" val="162292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Title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Slide No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5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Introduction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3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9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Literature Survey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4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1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Proposed Approach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5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1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Results and Analysis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6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20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Conclusion and Discussion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7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4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Reference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8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426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73E1498-D897-6C47-0356-0F92D4F2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B981E37-EE48-3946-5585-A35A809DC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dirty="0">
                <a:solidFill>
                  <a:srgbClr val="FF0000"/>
                </a:solidFill>
              </a:rPr>
              <a:t>Introduction: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AF9C7C4-7654-6529-7F2E-E184365DE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000"/>
            </a:pPr>
            <a:r>
              <a:rPr lang="en-US" dirty="0"/>
              <a:t>Energy consumption in households is a major economic and environmental concern.</a:t>
            </a:r>
            <a:endParaRPr dirty="0"/>
          </a:p>
          <a:p>
            <a:pPr marL="228600" lvl="0" indent="-228600" algn="just">
              <a:buSzPts val="2000"/>
            </a:pPr>
            <a:r>
              <a:rPr lang="en-IN" dirty="0"/>
              <a:t>Traditional prediction models fail to capture complex, non-linear usage patterns.</a:t>
            </a:r>
            <a:endParaRPr dirty="0"/>
          </a:p>
          <a:p>
            <a:pPr marL="228600" lvl="0" indent="-228600" algn="just">
              <a:buSzPts val="2000"/>
            </a:pPr>
            <a:r>
              <a:rPr lang="en-US" dirty="0"/>
              <a:t>Machine Learning offers robust and scalable solutions.</a:t>
            </a:r>
            <a:endParaRPr dirty="0"/>
          </a:p>
          <a:p>
            <a:pPr marL="228600" lvl="0" indent="-228600" algn="just">
              <a:buSzPts val="2000"/>
            </a:pPr>
            <a:r>
              <a:rPr lang="en-US" b="1" dirty="0"/>
              <a:t>Aim</a:t>
            </a:r>
            <a:r>
              <a:rPr lang="en-US" dirty="0"/>
              <a:t>: Develop a Random Forest-based predictive model for appliance energy usage.</a:t>
            </a:r>
            <a:endParaRPr dirty="0"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F1D2DCC-A1D3-FA58-3A94-F6B246A09E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3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2EA10307-EC96-DB44-51E7-C0C153D1763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54C1707-CE84-3E99-5B87-2A35203334C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812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40C6D38-11A1-3CDB-6044-29FE7F49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EA1D736-0456-D2E5-23E2-366E1C7BE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326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 dirty="0">
                <a:solidFill>
                  <a:srgbClr val="C00000"/>
                </a:solidFill>
                <a:latin typeface="Aharoni"/>
                <a:cs typeface="Aharoni"/>
                <a:sym typeface="Aharoni"/>
              </a:rPr>
              <a:t>Literature Survey: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BDE85147-2453-D527-CB76-D7DAD3A9D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18757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000"/>
            </a:pPr>
            <a:r>
              <a:rPr lang="en-US" sz="2200" b="1" dirty="0"/>
              <a:t>Candanedo et al. (2017):</a:t>
            </a:r>
            <a:r>
              <a:rPr lang="en-US" sz="2200" dirty="0"/>
              <a:t> Sensor + weather features → GBM achieved high prediction accuracy.</a:t>
            </a:r>
            <a:endParaRPr sz="2200" dirty="0"/>
          </a:p>
          <a:p>
            <a:pPr marL="228600" lvl="0" indent="-228600" algn="just">
              <a:buSzPts val="2000"/>
            </a:pPr>
            <a:r>
              <a:rPr lang="en-US" sz="2200" b="1" dirty="0"/>
              <a:t>Jrhilifa et al. (2024):</a:t>
            </a:r>
            <a:r>
              <a:rPr lang="en-US" sz="2200" dirty="0"/>
              <a:t> Deep learning with VMD improved load disaggregation &amp; forecasting.</a:t>
            </a:r>
            <a:endParaRPr sz="2200" dirty="0"/>
          </a:p>
          <a:p>
            <a:pPr marL="228600" lvl="0" indent="-228600" algn="just">
              <a:buSzPts val="2000"/>
            </a:pPr>
            <a:r>
              <a:rPr lang="en-US" sz="2200" b="1" dirty="0"/>
              <a:t>Beldar (2024):</a:t>
            </a:r>
            <a:r>
              <a:rPr lang="en-US" sz="2200" dirty="0"/>
              <a:t> Random Forest showed stability with preprocessing and feature selection.</a:t>
            </a:r>
            <a:endParaRPr sz="2200" dirty="0"/>
          </a:p>
          <a:p>
            <a:pPr marL="228600" lvl="0" indent="-228600" algn="just">
              <a:buSzPts val="2000"/>
            </a:pPr>
            <a:r>
              <a:rPr lang="en-IN" sz="2200" b="1" dirty="0"/>
              <a:t>Suhermi et al. (2024):</a:t>
            </a:r>
            <a:r>
              <a:rPr lang="en-IN" sz="2200" dirty="0"/>
              <a:t> FDA model outperformed RF in capturing time-varying trends.</a:t>
            </a:r>
            <a:endParaRPr sz="2200" dirty="0"/>
          </a:p>
          <a:p>
            <a:pPr marL="228600" lvl="0" indent="-228600" algn="just">
              <a:buSzPts val="2000"/>
            </a:pPr>
            <a:r>
              <a:rPr lang="en-US" sz="2200" b="1" dirty="0"/>
              <a:t>Conclusion</a:t>
            </a:r>
            <a:r>
              <a:rPr lang="en-US" sz="2200" dirty="0"/>
              <a:t>: Random Forest balances </a:t>
            </a:r>
            <a:r>
              <a:rPr lang="en-US" sz="2200" b="1" dirty="0"/>
              <a:t>accuracy, interpretability, and efficiency</a:t>
            </a:r>
            <a:r>
              <a:rPr lang="en-US" sz="2200" dirty="0"/>
              <a:t> better than most alternatives.</a:t>
            </a:r>
            <a:endParaRPr sz="2200" dirty="0"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CDABEB3-B879-112D-FD9A-836C4A195B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4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85D4A1D-4832-F949-9F18-4FB4B50AB65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E782BD7-2208-BD18-1A28-D634AAD923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900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DA622C1-260F-7413-B209-030D3D22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95014E9-2D40-2B7D-B49A-0425E3475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Proposed Approach: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30E37A61-93B2-3B88-D738-7E337F962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1531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000"/>
            </a:pPr>
            <a:r>
              <a:rPr lang="en-US" sz="2400" b="1" dirty="0"/>
              <a:t>Dataset:</a:t>
            </a:r>
            <a:r>
              <a:rPr lang="en-US" sz="2400" dirty="0"/>
              <a:t> UCI Repository (19,735 instances, 29 features).</a:t>
            </a:r>
            <a:endParaRPr sz="2400" dirty="0"/>
          </a:p>
          <a:p>
            <a:pPr marL="228600" lvl="0" indent="-228600" algn="just">
              <a:buSzPts val="2000"/>
            </a:pPr>
            <a:r>
              <a:rPr lang="en-US" sz="2400" b="1" dirty="0"/>
              <a:t>Preprocessing:</a:t>
            </a:r>
            <a:r>
              <a:rPr lang="en-US" sz="2400" dirty="0"/>
              <a:t> Outlier removal, normalization, encoding of temporal features.</a:t>
            </a:r>
            <a:endParaRPr sz="2400" dirty="0"/>
          </a:p>
          <a:p>
            <a:pPr marL="228600" lvl="0" indent="-228600" algn="just">
              <a:buSzPts val="2000"/>
            </a:pPr>
            <a:r>
              <a:rPr lang="en-US" sz="2400" b="1" dirty="0"/>
              <a:t>Feature Engineering:</a:t>
            </a:r>
            <a:r>
              <a:rPr lang="en-US" sz="2400" dirty="0"/>
              <a:t> PCA, Recursive Feature Elimination, Temperature-Humidity Index (THI).</a:t>
            </a:r>
            <a:endParaRPr sz="2400" dirty="0"/>
          </a:p>
          <a:p>
            <a:pPr marL="228600" lvl="0" indent="-228600" algn="just">
              <a:buSzPts val="2000"/>
            </a:pPr>
            <a:r>
              <a:rPr lang="en-US" sz="2400" b="1" dirty="0"/>
              <a:t>Model Development:</a:t>
            </a:r>
            <a:r>
              <a:rPr lang="en-US" sz="2400" dirty="0"/>
              <a:t> Random Forest Regressor with hyperparameter tuning.</a:t>
            </a:r>
            <a:endParaRPr sz="2400" dirty="0"/>
          </a:p>
          <a:p>
            <a:pPr marL="228600" lvl="0" indent="-228600" algn="just">
              <a:buSzPts val="2000"/>
            </a:pPr>
            <a:r>
              <a:rPr lang="en-US" sz="2400" b="1" dirty="0"/>
              <a:t>Evaluation:</a:t>
            </a:r>
            <a:r>
              <a:rPr lang="en-US" sz="2400" dirty="0"/>
              <a:t> Compared against LSTM &amp; Gradient Boosting models.</a:t>
            </a:r>
            <a:endParaRPr sz="2400" dirty="0"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47BEBD8-9DAB-77B9-480E-40F45C691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710D1D2-9FAD-0B48-2C88-15CCCF89A0A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D31F5B3-398E-7910-74E4-61A1AECBFB9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163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8389198-D1B3-3D76-BA73-47FAD5CB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20A596BA-18BB-E5DE-0BF1-768669CCD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222" y="244544"/>
            <a:ext cx="686302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Results and Analysis: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B6CDAE21-2C19-7ED5-019D-FF0FB538C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0489" y="1847850"/>
            <a:ext cx="939102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000"/>
            </a:pPr>
            <a:r>
              <a:rPr lang="en-IN" dirty="0"/>
              <a:t>Performance Metrics: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pt-BR" dirty="0"/>
              <a:t>R²: 0.978 | MAE: 0.05 | RMSE: 0.09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en-US" dirty="0"/>
              <a:t>Accuracy: 98%</a:t>
            </a:r>
          </a:p>
          <a:p>
            <a:pPr marL="228600" lvl="0" indent="-228600">
              <a:spcBef>
                <a:spcPts val="0"/>
              </a:spcBef>
              <a:buSzPts val="2000"/>
            </a:pPr>
            <a:r>
              <a:rPr lang="en-US" dirty="0"/>
              <a:t>Findings: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en-US" dirty="0"/>
              <a:t>Accurately tracked daily, weekly, and monthly trends.</a:t>
            </a:r>
            <a:endParaRPr dirty="0"/>
          </a:p>
          <a:p>
            <a:pPr marL="685800" lvl="1" indent="-228600">
              <a:buSzPts val="2000"/>
            </a:pPr>
            <a:r>
              <a:rPr lang="en-US" dirty="0"/>
              <a:t>Identified </a:t>
            </a:r>
            <a:r>
              <a:rPr lang="en-US" b="1" dirty="0"/>
              <a:t>peak usage hours</a:t>
            </a:r>
            <a:r>
              <a:rPr lang="en-US" dirty="0"/>
              <a:t> (evenings, weekends).</a:t>
            </a:r>
            <a:endParaRPr dirty="0"/>
          </a:p>
          <a:p>
            <a:pPr marL="685800" lvl="1" indent="-228600">
              <a:buSzPts val="2000"/>
            </a:pPr>
            <a:r>
              <a:rPr lang="en-US" dirty="0"/>
              <a:t>Outperformed Gradient Boosting and LSTM in stability &amp; speed.</a:t>
            </a:r>
            <a:endParaRPr dirty="0"/>
          </a:p>
          <a:p>
            <a:pPr marL="228600" lvl="0" indent="-228600">
              <a:buSzPts val="2000"/>
            </a:pPr>
            <a:r>
              <a:rPr lang="en-US" b="1" dirty="0"/>
              <a:t>Limitation:</a:t>
            </a:r>
            <a:r>
              <a:rPr lang="en-US" dirty="0"/>
              <a:t> Underprediction during extreme peak usage.</a:t>
            </a:r>
            <a:endParaRPr dirty="0"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85F38C8-A220-EE54-0D1B-8BC25968B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6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7CC8AEB-D7E1-A998-6ACE-5B3B2FD4F4B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D7512DE-FE64-5254-EBE9-CBE2EF8A0C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467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1d6653723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Conclusion and Discussion</a:t>
            </a:r>
            <a:endParaRPr dirty="0"/>
          </a:p>
        </p:txBody>
      </p:sp>
      <p:sp>
        <p:nvSpPr>
          <p:cNvPr id="106" name="Google Shape;106;g371d6653723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buSzPts val="2000"/>
            </a:pPr>
            <a:r>
              <a:rPr lang="en-US" sz="2400" dirty="0"/>
              <a:t>Developed a </a:t>
            </a:r>
            <a:r>
              <a:rPr lang="en-US" sz="2400" b="1" dirty="0"/>
              <a:t>robust, scalable Random Forest model</a:t>
            </a:r>
            <a:r>
              <a:rPr lang="en-US" sz="2400" dirty="0"/>
              <a:t> for energy prediction.</a:t>
            </a:r>
            <a:endParaRPr sz="2400" dirty="0"/>
          </a:p>
          <a:p>
            <a:pPr marL="228600" lvl="0" indent="-228600">
              <a:buSzPts val="2000"/>
            </a:pPr>
            <a:r>
              <a:rPr lang="en-US" sz="2400" dirty="0"/>
              <a:t>Provides </a:t>
            </a:r>
            <a:r>
              <a:rPr lang="en-US" sz="2400" b="1" dirty="0"/>
              <a:t>actionable insights</a:t>
            </a:r>
            <a:r>
              <a:rPr lang="en-US" sz="2400" dirty="0"/>
              <a:t> for cost savings and energy efficiency.</a:t>
            </a:r>
          </a:p>
          <a:p>
            <a:pPr marL="228600" indent="-228600">
              <a:buSzPts val="2000"/>
            </a:pPr>
            <a:r>
              <a:rPr lang="en-IN" sz="2400" dirty="0"/>
              <a:t>Directly supports </a:t>
            </a:r>
            <a:r>
              <a:rPr lang="en-IN" sz="2400" b="1" dirty="0"/>
              <a:t>UN SDGs</a:t>
            </a:r>
            <a:r>
              <a:rPr lang="en-IN" sz="2400" dirty="0"/>
              <a:t>:</a:t>
            </a:r>
          </a:p>
          <a:p>
            <a:pPr marL="685800" lvl="1" indent="-228600">
              <a:buSzPts val="2000"/>
            </a:pPr>
            <a:r>
              <a:rPr lang="en-US" sz="1800" dirty="0"/>
              <a:t>SDG 7: Affordable &amp; Clean Energy</a:t>
            </a:r>
          </a:p>
          <a:p>
            <a:pPr marL="685800" lvl="1" indent="-228600">
              <a:buSzPts val="2000"/>
            </a:pPr>
            <a:r>
              <a:rPr lang="en-IN" sz="1800" dirty="0"/>
              <a:t>SDG 12: Responsible Consumption</a:t>
            </a:r>
          </a:p>
          <a:p>
            <a:pPr marL="685800" lvl="1" indent="-228600">
              <a:buSzPts val="2000"/>
            </a:pPr>
            <a:r>
              <a:rPr lang="en-IN" sz="1800" dirty="0"/>
              <a:t>SDG 13: Climate Action</a:t>
            </a:r>
          </a:p>
          <a:p>
            <a:pPr marL="228600" lvl="0" indent="-228600">
              <a:buSzPts val="2000"/>
            </a:pPr>
            <a:r>
              <a:rPr lang="en-US" sz="2400" dirty="0"/>
              <a:t>Future Work: Real-time IoT integration, deeper analysis with advanced ML models.</a:t>
            </a:r>
            <a:endParaRPr sz="2400" dirty="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07" name="Google Shape;107;g371d6653723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7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108" name="Google Shape;108;g371d6653723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09" name="Google Shape;109;g371d6653723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1d6653723_2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haroni"/>
              <a:buNone/>
            </a:pPr>
            <a:r>
              <a:rPr lang="en-US" sz="400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References</a:t>
            </a:r>
            <a:endParaRPr/>
          </a:p>
        </p:txBody>
      </p:sp>
      <p:sp>
        <p:nvSpPr>
          <p:cNvPr id="133" name="Google Shape;133;g371d6653723_2_24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buSzPts val="2000"/>
            </a:pPr>
            <a:r>
              <a:rPr lang="en-US" sz="2000" dirty="0"/>
              <a:t>L. Breiman, “Random forests: A powerful tool for predictive modeling,” </a:t>
            </a:r>
            <a:r>
              <a:rPr lang="en-US" sz="2000" i="1" dirty="0"/>
              <a:t>Machine Learning</a:t>
            </a:r>
            <a:r>
              <a:rPr lang="en-US" sz="2000" dirty="0"/>
              <a:t>, vol. 45, no. 1, pp. 5–32, 2001.</a:t>
            </a:r>
          </a:p>
          <a:p>
            <a:pPr marL="228600" lvl="0" indent="-228600" algn="just">
              <a:buSzPts val="2000"/>
            </a:pPr>
            <a:r>
              <a:rPr lang="en-US" sz="2000" dirty="0"/>
              <a:t>L. M. Candanedo, V. Feldheim, and D. Deramaix, “Data-driven prediction models for energy consumption in low-energy buildings,” </a:t>
            </a:r>
            <a:r>
              <a:rPr lang="en-US" sz="2000" i="1" dirty="0"/>
              <a:t>Energy and Buildings</a:t>
            </a:r>
            <a:r>
              <a:rPr lang="en-US" sz="2000" dirty="0"/>
              <a:t>, vol. 140, pp. 81–97, 2017.</a:t>
            </a:r>
          </a:p>
          <a:p>
            <a:pPr marL="228600" lvl="0" indent="-228600" algn="just">
              <a:buSzPts val="2000"/>
            </a:pPr>
            <a:r>
              <a:rPr lang="en-US" sz="2000" dirty="0"/>
              <a:t>P. R. Beldar, “Supervised machine learning approaches for appliance energy forecasting,” </a:t>
            </a:r>
            <a:r>
              <a:rPr lang="en-US" sz="2000" i="1" dirty="0"/>
              <a:t>ResearchSquare</a:t>
            </a:r>
            <a:r>
              <a:rPr lang="en-US" sz="2000" dirty="0"/>
              <a:t>, 2024.</a:t>
            </a:r>
          </a:p>
          <a:p>
            <a:pPr marL="228600" lvl="0" indent="-228600" algn="just">
              <a:buSzPts val="2000"/>
            </a:pPr>
            <a:r>
              <a:rPr lang="en-US" sz="2000" dirty="0"/>
              <a:t>United Nations, </a:t>
            </a:r>
            <a:r>
              <a:rPr lang="en-US" sz="2000" i="1" dirty="0"/>
              <a:t>Transforming Our World: The 2030 Agenda for Sustainable Development</a:t>
            </a:r>
            <a:r>
              <a:rPr lang="en-US" sz="2000" dirty="0"/>
              <a:t>, 2015.</a:t>
            </a:r>
          </a:p>
          <a:p>
            <a:pPr marL="228600" indent="-228600" algn="just">
              <a:buSzPts val="2000"/>
            </a:pPr>
            <a:r>
              <a:rPr lang="en-IN" sz="2000" dirty="0"/>
              <a:t>D. Phan, “Linear regression for energy consumption prediction: A case study,” </a:t>
            </a:r>
            <a:r>
              <a:rPr lang="en-IN" sz="2000" i="1" dirty="0"/>
              <a:t>ResearchSquare</a:t>
            </a:r>
            <a:r>
              <a:rPr lang="en-IN" sz="2000" dirty="0"/>
              <a:t>, 2024.</a:t>
            </a:r>
          </a:p>
          <a:p>
            <a:pPr marL="228600" lvl="0" indent="-228600" algn="just">
              <a:buSzPts val="2000"/>
            </a:pPr>
            <a:endParaRPr lang="en-US" sz="2000" dirty="0"/>
          </a:p>
        </p:txBody>
      </p:sp>
      <p:sp>
        <p:nvSpPr>
          <p:cNvPr id="134" name="Google Shape;134;g371d6653723_2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C55A11"/>
                </a:solidFill>
              </a:rPr>
              <a:t>8</a:t>
            </a:fld>
            <a:endParaRPr sz="2400" b="1">
              <a:solidFill>
                <a:srgbClr val="C55A11"/>
              </a:solidFill>
            </a:endParaRPr>
          </a:p>
        </p:txBody>
      </p:sp>
      <p:sp>
        <p:nvSpPr>
          <p:cNvPr id="135" name="Google Shape;135;g371d6653723_2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2025-07-22</a:t>
            </a:r>
            <a:endParaRPr sz="1800" b="1">
              <a:solidFill>
                <a:srgbClr val="C55A11"/>
              </a:solidFill>
            </a:endParaRPr>
          </a:p>
        </p:txBody>
      </p:sp>
      <p:sp>
        <p:nvSpPr>
          <p:cNvPr id="136" name="Google Shape;136;g371d6653723_2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</a:rPr>
              <a:t>IEEE INDISCON 2025 - PID#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591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Aharoni</vt:lpstr>
      <vt:lpstr>Arial</vt:lpstr>
      <vt:lpstr>Calibri</vt:lpstr>
      <vt:lpstr>Office 2013 - 2022 Theme</vt:lpstr>
      <vt:lpstr> Title of Paper: Development of an Energy Prediction Model for Home Appliances Using Random Forest Algorithm Paper ID : 2671 Presenting Author: Pasupuleti Charan Kumar</vt:lpstr>
      <vt:lpstr>Table of Contents</vt:lpstr>
      <vt:lpstr>Introduction:</vt:lpstr>
      <vt:lpstr>Literature Survey:</vt:lpstr>
      <vt:lpstr>Proposed Approach:</vt:lpstr>
      <vt:lpstr>Results and Analysis:</vt:lpstr>
      <vt:lpstr>Conclusion and Discussion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Sandip Ghosal</dc:creator>
  <cp:lastModifiedBy>sivakrishna devireddy</cp:lastModifiedBy>
  <cp:revision>2</cp:revision>
  <dcterms:created xsi:type="dcterms:W3CDTF">2025-07-22T06:28:25Z</dcterms:created>
  <dcterms:modified xsi:type="dcterms:W3CDTF">2025-08-18T08:14:16Z</dcterms:modified>
</cp:coreProperties>
</file>